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4" roundtripDataSignature="AMtx7minLgW5CUKYlbLgf4mAmOICyDgK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BCA0E0-5000-4405-A556-16D76522C1F2}">
  <a:tblStyle styleId="{6ABCA0E0-5000-4405-A556-16D76522C1F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Medicare Advantage: Food Access Program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Charlie Jubera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idx="4294967295" type="subTitle"/>
          </p:nvPr>
        </p:nvSpPr>
        <p:spPr>
          <a:xfrm>
            <a:off x="967500" y="380725"/>
            <a:ext cx="7209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935"/>
              <a:buFont typeface="Arial"/>
              <a:buNone/>
            </a:pPr>
            <a:r>
              <a:rPr b="0" i="0" lang="en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Targeting 3 counties will reach </a:t>
            </a:r>
            <a:r>
              <a:rPr b="1" i="0" lang="en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362,726 people</a:t>
            </a:r>
            <a:r>
              <a:rPr b="0" i="0" lang="en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save </a:t>
            </a:r>
            <a:r>
              <a:rPr b="1" i="0" lang="en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$31.2M annually</a:t>
            </a:r>
            <a:r>
              <a:rPr b="0" i="0" lang="en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healthcare costs.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800" y="1293225"/>
            <a:ext cx="6996401" cy="34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7667950" y="4230550"/>
            <a:ext cx="12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Hidalgo, TX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7711925" y="2738775"/>
            <a:ext cx="12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Lake, IN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711925" y="1934000"/>
            <a:ext cx="12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Genesee, MI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2"/>
          <p:cNvCxnSpPr>
            <a:endCxn id="64" idx="1"/>
          </p:cNvCxnSpPr>
          <p:nvPr/>
        </p:nvCxnSpPr>
        <p:spPr>
          <a:xfrm flipH="1" rot="10800000">
            <a:off x="5795525" y="2134100"/>
            <a:ext cx="1916400" cy="27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2"/>
          <p:cNvCxnSpPr>
            <a:endCxn id="63" idx="1"/>
          </p:cNvCxnSpPr>
          <p:nvPr/>
        </p:nvCxnSpPr>
        <p:spPr>
          <a:xfrm>
            <a:off x="5458625" y="2652375"/>
            <a:ext cx="2253300" cy="2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2"/>
          <p:cNvCxnSpPr>
            <a:endCxn id="62" idx="1"/>
          </p:cNvCxnSpPr>
          <p:nvPr/>
        </p:nvCxnSpPr>
        <p:spPr>
          <a:xfrm flipH="1" rot="10800000">
            <a:off x="4396150" y="4430650"/>
            <a:ext cx="32718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Target Counties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311700" y="1152475"/>
            <a:ext cx="34470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Hidalgo County, TX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Genesee County, MI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Lake County, IN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395"/>
          </a:p>
        </p:txBody>
      </p:sp>
      <p:sp>
        <p:nvSpPr>
          <p:cNvPr id="74" name="Google Shape;74;p3"/>
          <p:cNvSpPr txBox="1"/>
          <p:nvPr/>
        </p:nvSpPr>
        <p:spPr>
          <a:xfrm>
            <a:off x="3758700" y="1152475"/>
            <a:ext cx="35535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Combined low-access population (2020 projection): </a:t>
            </a:r>
            <a:r>
              <a:rPr b="1" lang="en" sz="1800">
                <a:solidFill>
                  <a:schemeClr val="dk2"/>
                </a:solidFill>
              </a:rPr>
              <a:t>643,374</a:t>
            </a: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people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67850"/>
            <a:ext cx="8520600" cy="2335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Health Impact </a:t>
            </a:r>
            <a:endParaRPr/>
          </a:p>
        </p:txBody>
      </p:sp>
      <p:sp>
        <p:nvSpPr>
          <p:cNvPr id="81" name="Google Shape;81;p4"/>
          <p:cNvSpPr txBox="1"/>
          <p:nvPr>
            <p:ph idx="1" type="body"/>
          </p:nvPr>
        </p:nvSpPr>
        <p:spPr>
          <a:xfrm>
            <a:off x="311700" y="1186950"/>
            <a:ext cx="39126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obesity rates in target counties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Diabetes prevalence exceeds other counties' rates 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Physical inactivity indicating barriers to healthy lifestyles</a:t>
            </a:r>
            <a:endParaRPr/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4306" y="1668075"/>
            <a:ext cx="4777395" cy="25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Expected Engagement</a:t>
            </a:r>
            <a:endParaRPr/>
          </a:p>
        </p:txBody>
      </p:sp>
      <p:graphicFrame>
        <p:nvGraphicFramePr>
          <p:cNvPr id="88" name="Google Shape;88;p5"/>
          <p:cNvGraphicFramePr/>
          <p:nvPr/>
        </p:nvGraphicFramePr>
        <p:xfrm>
          <a:off x="311700" y="134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{6ABCA0E0-5000-4405-A556-16D76522C1F2}</a:tableStyleId>
              </a:tblPr>
              <a:tblGrid>
                <a:gridCol w="1952625"/>
                <a:gridCol w="1952625"/>
                <a:gridCol w="1952625"/>
                <a:gridCol w="1952625"/>
              </a:tblGrid>
              <a:tr h="78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County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Low Access Population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Engagement Rate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Total Engagement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2F2F2"/>
                    </a:solidFill>
                  </a:tcPr>
                </a:tc>
              </a:tr>
              <a:tr h="50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Hidalgo, TX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302,459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54.7%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165,349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0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Lake, IN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212,729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54.2%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115,255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0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Genesee, MI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128,185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64.1%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82,122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Total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643,373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56.4%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362,726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Projected Impact</a:t>
            </a:r>
            <a:endParaRPr/>
          </a:p>
        </p:txBody>
      </p:sp>
      <p:sp>
        <p:nvSpPr>
          <p:cNvPr id="94" name="Google Shape;94;p6"/>
          <p:cNvSpPr txBox="1"/>
          <p:nvPr>
            <p:ph idx="1" type="body"/>
          </p:nvPr>
        </p:nvSpPr>
        <p:spPr>
          <a:xfrm>
            <a:off x="311700" y="1152475"/>
            <a:ext cx="5492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/>
              <a:t> </a:t>
            </a:r>
            <a:r>
              <a:rPr b="1" lang="en" sz="1500"/>
              <a:t>Health Improvements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4,877 fewer cases of obesity 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1,840 fewer cases of diabetes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500"/>
              <a:t>Estimated Annual Cost Savings</a:t>
            </a:r>
            <a:r>
              <a:rPr lang="en" sz="1500"/>
              <a:t>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$9,077,164 saved from reduced obesity-related costs  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$22,129,341 saved from reduced diabetes-related costs 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500"/>
              <a:t>Total Annual Savings 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$31,206,505 in combined healthcare cost reductions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00" name="Google Shape;100;p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